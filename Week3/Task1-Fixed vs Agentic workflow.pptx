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layfair Displ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layfairDisplay-regular.fntdata"/><Relationship Id="rId14" Type="http://schemas.openxmlformats.org/officeDocument/2006/relationships/slide" Target="slides/slide9.xml"/><Relationship Id="rId17" Type="http://schemas.openxmlformats.org/officeDocument/2006/relationships/font" Target="fonts/PlayfairDisplay-italic.fntdata"/><Relationship Id="rId16" Type="http://schemas.openxmlformats.org/officeDocument/2006/relationships/font" Target="fonts/PlayfairDisplay-bold.fntdata"/><Relationship Id="rId19" Type="http://schemas.openxmlformats.org/officeDocument/2006/relationships/font" Target="fonts/Lato-regular.fntdata"/><Relationship Id="rId18" Type="http://schemas.openxmlformats.org/officeDocument/2006/relationships/font" Target="fonts/PlayfairDispl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ac0f9b12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ac0f9b12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ac0f9b12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ac0f9b12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ac0f9b12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ac0f9b12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ac0f9b12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ac0f9b12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ac0f9b12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ac0f9b12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ac0f9b12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ac0f9b12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ac0f9b12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ac0f9b12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ac0f9b12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ac0f9b12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Fixed vs Agentic workflow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Gowtham Sivasubramaniam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00"/>
              <a:t>Fixed workflow for </a:t>
            </a:r>
            <a:r>
              <a:rPr lang="en-GB" sz="1800"/>
              <a:t>Organizing commands and outputs with reasoning.</a:t>
            </a:r>
            <a:endParaRPr sz="1800"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272950"/>
            <a:ext cx="8520600" cy="27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/>
              <a:t>D</a:t>
            </a:r>
            <a:r>
              <a:rPr lang="en-GB" sz="1400"/>
              <a:t>eterministic LLM → always formats and appends commends to a single Google Doc (no “judgment” or branching logic).</a:t>
            </a:r>
            <a:br>
              <a:rPr lang="en-GB" sz="1400"/>
            </a:br>
            <a:br>
              <a:rPr lang="en-GB" sz="1400"/>
            </a:br>
            <a:endParaRPr sz="1400"/>
          </a:p>
        </p:txBody>
      </p:sp>
      <p:pic>
        <p:nvPicPr>
          <p:cNvPr id="67" name="Google Shape;67;p14" title="Fixed work 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226" y="1739699"/>
            <a:ext cx="7271552" cy="329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Agentic workflow </a:t>
            </a:r>
            <a:r>
              <a:rPr lang="en-GB" sz="2000"/>
              <a:t>for Organizing commands and outputs with reasoning.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 title="downloa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675" y="1152475"/>
            <a:ext cx="8229274" cy="373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27300"/>
            <a:ext cx="8520600" cy="4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Terminal Messages Input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Receives all terminal activity (commands + outputs) in real-time or batch.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commit -m "fix bug"</a:t>
            </a:r>
            <a:b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log --graph</a:t>
            </a:r>
            <a:b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ls -la</a:t>
            </a:r>
            <a:b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npm install</a:t>
            </a:r>
            <a:b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the </a:t>
            </a: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data source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the agent.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200"/>
            <a:ext cx="85206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Agent Analyzes</a:t>
            </a:r>
            <a:b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LLM reads each terminal message.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Determines: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 intent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What is this command doing? (commit, log, install, test, etc.)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structure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Is the output tabular, structured, verbose, visual?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Context/importance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Is this a critical log, exploratory analysis, or routine operation?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log --graph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exploratory visualization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commit -m "fix bug"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structured record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</a:rPr>
              <a:t>LLM Decides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GB" sz="1500">
                <a:solidFill>
                  <a:srgbClr val="000000"/>
                </a:solidFill>
              </a:rPr>
              <a:t>Based on the analysis, the agent chooses:</a:t>
            </a:r>
            <a:br>
              <a:rPr lang="en-GB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>
                <a:solidFill>
                  <a:srgbClr val="000000"/>
                </a:solidFill>
              </a:rPr>
              <a:t>Docs vs Excel</a:t>
            </a:r>
            <a:br>
              <a:rPr lang="en-GB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Docs: narrative, exploratory, explanation-heavy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Excel: structured, tabular, repeatable format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>
                <a:solidFill>
                  <a:srgbClr val="000000"/>
                </a:solidFill>
              </a:rPr>
              <a:t>Folder structure</a:t>
            </a:r>
            <a:br>
              <a:rPr lang="en-GB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Organize files by date or command type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e.g.,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/runs/2026-01-18/git_commits.xlsx</a:t>
            </a:r>
            <a:b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</a:rPr>
              <a:t>LLM Decides</a:t>
            </a:r>
            <a:br>
              <a:rPr b="1" lang="en-GB" sz="1500">
                <a:solidFill>
                  <a:srgbClr val="000000"/>
                </a:solidFill>
              </a:rPr>
            </a:br>
            <a:br>
              <a:rPr b="1" lang="en-GB" sz="1500">
                <a:solidFill>
                  <a:srgbClr val="000000"/>
                </a:solidFill>
              </a:rPr>
            </a:br>
            <a:r>
              <a:rPr b="1" lang="en-GB" sz="1500">
                <a:solidFill>
                  <a:srgbClr val="000000"/>
                </a:solidFill>
              </a:rPr>
              <a:t> 	</a:t>
            </a:r>
            <a:r>
              <a:rPr b="1" lang="en-GB" sz="1500">
                <a:solidFill>
                  <a:srgbClr val="000000"/>
                </a:solidFill>
              </a:rPr>
              <a:t>Formatting style</a:t>
            </a:r>
            <a:endParaRPr b="1"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SzPts val="1500"/>
              <a:buChar char="○"/>
            </a:pPr>
            <a:r>
              <a:rPr b="0" lang="en-GB" sz="1500">
                <a:solidFill>
                  <a:srgbClr val="000000"/>
                </a:solidFill>
              </a:rPr>
              <a:t>Narrative format for Docs</a:t>
            </a:r>
            <a:br>
              <a:rPr b="0" lang="en-GB" sz="1500">
                <a:solidFill>
                  <a:srgbClr val="000000"/>
                </a:solidFill>
              </a:rPr>
            </a:br>
            <a:endParaRPr b="0"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0" lang="en-GB" sz="1500">
                <a:solidFill>
                  <a:srgbClr val="000000"/>
                </a:solidFill>
              </a:rPr>
              <a:t>Columns/rows for Excel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GB" sz="1500">
                <a:solidFill>
                  <a:srgbClr val="000000"/>
                </a:solidFill>
              </a:rPr>
              <a:t>Explanation level</a:t>
            </a:r>
            <a:br>
              <a:rPr b="1" lang="en-GB" sz="1500">
                <a:solidFill>
                  <a:srgbClr val="000000"/>
                </a:solidFill>
              </a:rPr>
            </a:br>
            <a:endParaRPr b="1"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0" lang="en-GB" sz="1500">
                <a:solidFill>
                  <a:srgbClr val="000000"/>
                </a:solidFill>
              </a:rPr>
              <a:t>Add reasoning for why this command was run</a:t>
            </a:r>
            <a:br>
              <a:rPr b="0" lang="en-GB" sz="1500">
                <a:solidFill>
                  <a:srgbClr val="000000"/>
                </a:solidFill>
              </a:rPr>
            </a:br>
            <a:endParaRPr b="0"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0" lang="en-GB" sz="1500">
                <a:solidFill>
                  <a:srgbClr val="000000"/>
                </a:solidFill>
              </a:rPr>
              <a:t>Add context for outputs</a:t>
            </a:r>
            <a:br>
              <a:rPr b="0" lang="en-GB" sz="1500">
                <a:solidFill>
                  <a:srgbClr val="000000"/>
                </a:solidFill>
              </a:rPr>
            </a:br>
            <a:endParaRPr b="0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GB" sz="1500">
                <a:solidFill>
                  <a:srgbClr val="000000"/>
                </a:solidFill>
              </a:rPr>
              <a:t>Timestamp</a:t>
            </a:r>
            <a:br>
              <a:rPr b="1" lang="en-GB" sz="1500">
                <a:solidFill>
                  <a:srgbClr val="000000"/>
                </a:solidFill>
              </a:rPr>
            </a:br>
            <a:endParaRPr b="1"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0" lang="en-GB" sz="1500">
                <a:solidFill>
                  <a:srgbClr val="000000"/>
                </a:solidFill>
              </a:rPr>
              <a:t>Record execution time</a:t>
            </a:r>
            <a:br>
              <a:rPr b="0" lang="en-GB" sz="1500">
                <a:solidFill>
                  <a:srgbClr val="000000"/>
                </a:solidFill>
              </a:rPr>
            </a:br>
            <a:endParaRPr b="0"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0" lang="en-GB" sz="1500">
                <a:solidFill>
                  <a:srgbClr val="000000"/>
                </a:solidFill>
              </a:rPr>
              <a:t>Maintain chronological order</a:t>
            </a:r>
            <a:endParaRPr b="0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243975"/>
            <a:ext cx="8520600" cy="48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</a:rPr>
              <a:t>Decision Branch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GB" sz="1500">
                <a:solidFill>
                  <a:srgbClr val="000000"/>
                </a:solidFill>
              </a:rPr>
              <a:t>Agent routes the terminal message to </a:t>
            </a:r>
            <a:r>
              <a:rPr b="1" lang="en-GB" sz="1500">
                <a:solidFill>
                  <a:srgbClr val="000000"/>
                </a:solidFill>
              </a:rPr>
              <a:t>either Google Docs or Excel</a:t>
            </a:r>
            <a:r>
              <a:rPr lang="en-GB" sz="1500">
                <a:solidFill>
                  <a:srgbClr val="000000"/>
                </a:solidFill>
              </a:rPr>
              <a:t> based on its decision.</a:t>
            </a:r>
            <a:br>
              <a:rPr lang="en-GB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GB" sz="1500">
                <a:solidFill>
                  <a:srgbClr val="000000"/>
                </a:solidFill>
              </a:rPr>
              <a:t>Google Docs</a:t>
            </a:r>
            <a:br>
              <a:rPr b="1" lang="en-GB" sz="1500">
                <a:solidFill>
                  <a:srgbClr val="000000"/>
                </a:solidFill>
              </a:rPr>
            </a:br>
            <a:endParaRPr b="1"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0" lang="en-GB" sz="1500">
                <a:solidFill>
                  <a:srgbClr val="000000"/>
                </a:solidFill>
              </a:rPr>
              <a:t>Narrative style</a:t>
            </a:r>
            <a:br>
              <a:rPr b="0" lang="en-GB" sz="1500">
                <a:solidFill>
                  <a:srgbClr val="000000"/>
                </a:solidFill>
              </a:rPr>
            </a:br>
            <a:endParaRPr b="0"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0" lang="en-GB" sz="1500">
                <a:solidFill>
                  <a:srgbClr val="000000"/>
                </a:solidFill>
              </a:rPr>
              <a:t>Adds explanations</a:t>
            </a:r>
            <a:br>
              <a:rPr b="0" lang="en-GB" sz="1500">
                <a:solidFill>
                  <a:srgbClr val="000000"/>
                </a:solidFill>
              </a:rPr>
            </a:br>
            <a:endParaRPr b="0"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0" lang="en-GB" sz="1500">
                <a:solidFill>
                  <a:srgbClr val="000000"/>
                </a:solidFill>
              </a:rPr>
              <a:t>Useful for exploratory commands (like </a:t>
            </a:r>
            <a:r>
              <a:rPr b="0"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log</a:t>
            </a:r>
            <a:r>
              <a:rPr b="0" lang="en-GB" sz="1500">
                <a:solidFill>
                  <a:srgbClr val="000000"/>
                </a:solidFill>
              </a:rPr>
              <a:t>, </a:t>
            </a:r>
            <a:r>
              <a:rPr b="0"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ls -la</a:t>
            </a:r>
            <a:r>
              <a:rPr b="0" lang="en-GB" sz="1500">
                <a:solidFill>
                  <a:srgbClr val="000000"/>
                </a:solidFill>
              </a:rPr>
              <a:t>)</a:t>
            </a:r>
            <a:br>
              <a:rPr b="0" lang="en-GB" sz="1500">
                <a:solidFill>
                  <a:srgbClr val="000000"/>
                </a:solidFill>
              </a:rPr>
            </a:br>
            <a:endParaRPr b="0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GB" sz="1500">
                <a:solidFill>
                  <a:srgbClr val="000000"/>
                </a:solidFill>
              </a:rPr>
              <a:t>Excel Sheets</a:t>
            </a:r>
            <a:br>
              <a:rPr b="1" lang="en-GB" sz="1500">
                <a:solidFill>
                  <a:srgbClr val="000000"/>
                </a:solidFill>
              </a:rPr>
            </a:br>
            <a:endParaRPr b="1"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0" lang="en-GB" sz="1500">
                <a:solidFill>
                  <a:srgbClr val="000000"/>
                </a:solidFill>
              </a:rPr>
              <a:t>Structured format</a:t>
            </a:r>
            <a:br>
              <a:rPr b="0" lang="en-GB" sz="1500">
                <a:solidFill>
                  <a:srgbClr val="000000"/>
                </a:solidFill>
              </a:rPr>
            </a:br>
            <a:endParaRPr b="0"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0" lang="en-GB" sz="1500">
                <a:solidFill>
                  <a:srgbClr val="000000"/>
                </a:solidFill>
              </a:rPr>
              <a:t>Useful for repeatable, tabular data (like </a:t>
            </a:r>
            <a:r>
              <a:rPr b="0"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commit</a:t>
            </a:r>
            <a:r>
              <a:rPr b="0" lang="en-GB" sz="1500">
                <a:solidFill>
                  <a:srgbClr val="000000"/>
                </a:solidFill>
              </a:rPr>
              <a:t> history, test results)</a:t>
            </a:r>
            <a:endParaRPr b="0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Best senario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017450"/>
            <a:ext cx="8520600" cy="41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6" name="Google Shape;106;p21" title="workflows_vs_agents.png"/>
          <p:cNvPicPr preferRelativeResize="0"/>
          <p:nvPr/>
        </p:nvPicPr>
        <p:blipFill rotWithShape="1">
          <a:blip r:embed="rId3">
            <a:alphaModFix/>
          </a:blip>
          <a:srcRect b="19865" l="0" r="0" t="0"/>
          <a:stretch/>
        </p:blipFill>
        <p:spPr>
          <a:xfrm>
            <a:off x="2418600" y="1017450"/>
            <a:ext cx="4688676" cy="39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